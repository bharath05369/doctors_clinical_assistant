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57" r:id="rId4"/>
    <p:sldId id="258" r:id="rId5"/>
    <p:sldId id="262" r:id="rId6"/>
    <p:sldId id="263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37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030DB9-5101-4624-95C4-95A136B8E612}" type="datetimeFigureOut">
              <a:rPr lang="en-IN" smtClean="0"/>
              <a:t>01-01-2026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EB5D6-4023-4198-B1E1-3D8FF6218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758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4EB5D6-4023-4198-B1E1-3D8FF6218BC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77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7A15-5DA0-E0B4-F251-FB7843ABD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834DD1-732B-2802-435A-6F7BD5FB9D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3F28C-1D57-6EED-2D32-11B2C10D0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1599-DD84-48FE-9F3B-C6BE47124227}" type="datetime1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5B135-99C5-5A4B-06FF-CF2B39010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3F1DD1-5687-F1EF-EE06-F0913BF9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404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8DA3-5E80-847E-2B58-F561847D2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81CCA-530B-5811-6C4E-07BE2994C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6A728-6359-9F66-3D0B-45B7FAF50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C180E7-FC91-4DB2-9FAF-498B8FF94FC8}" type="datetime1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AC8DE-E955-A310-87E4-7D230EE4E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5AEAFD-024C-A8B7-072F-B78F69584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2983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6E4EC-94EC-C53D-E14F-98CFCA656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D72B3-31D2-C354-1B90-7532C2B846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6E8A27-AC50-62AE-AB35-D70C14D8C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9223AD-5AA9-49EA-ADF9-D72FAFE5DA39}" type="datetime1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53AEE-3848-DA20-8CB9-2D06C1AA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C18474-3C4D-CED5-B9C2-0FB7B132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413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1FC45-7BA1-DD62-CE08-45827E78D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F2AF-D0F1-EBB4-23E7-2B0C235BE1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85DB4-9525-6567-965F-9CDA142BD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8FB221-1148-B91F-F8EB-E2066FE7D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4F4F2-F91D-44E6-8AA5-774C6C226D8C}" type="datetime1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9B7B8-AFAE-8FB3-4DED-E608DF256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EA4B46-01D9-EC0A-5DEF-B325C87B5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849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8E3EB-5C88-1968-BFB2-EC3017AC6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667C9B-B732-0B5E-1FA9-5A27B92701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7AD73D-0EE2-7605-C5E3-0E8455291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8966B7-ABD9-42BA-E92A-F6260A4788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618213-6FE4-865E-2135-1998C9BF04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D92271-293E-E886-CCE3-198852280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A914A1-80E7-470D-8C61-8A6E97EB4E12}" type="datetime1">
              <a:rPr lang="en-IN" smtClean="0"/>
              <a:t>01-01-2026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050E9D-7E51-0F1E-6DE2-38BC76F60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B1B43C-0BB4-B306-B4CC-31B0EE48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879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E4D8A-15DD-E367-C295-39B97F20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E52A01-31E9-6511-0BAB-2D6EC089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B3F06-C4D5-4FC1-A414-3F103D8955B3}" type="datetime1">
              <a:rPr lang="en-IN" smtClean="0"/>
              <a:t>01-01-2026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EEAAA9-429D-CAE1-41EE-894AD031D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D7A5B3-0648-D730-9715-383F293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35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ED85DC-FBEF-F62D-F65E-5A5CEA77C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4DD46-A36B-4EAE-8258-66E659A9D6E2}" type="datetime1">
              <a:rPr lang="en-IN" smtClean="0"/>
              <a:t>01-01-2026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7F3A4-6221-4810-F928-489729CC0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E71B8-6472-943A-102E-1C34D16F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085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08D64-C657-8152-E922-AB2A05503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211D6-309D-4612-757A-05D0A6057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71DA9-097D-75CF-E172-97A5E1EA0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B13E4-0A65-24B5-2C6B-078EA003F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99013-6DCC-402B-A01F-D05C85A5024B}" type="datetime1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66EB6-C152-57E6-5F73-4ED1AAAB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24DE3-4670-38A9-97E7-70E855700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137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FA46B-7F62-E180-7BA0-E2A026728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F152F9-9F1C-B4DF-98A9-30FAFEB886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12905-347A-F7EF-8600-85C42A6050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91E4-5F62-6DDC-662D-5E9F8F9EB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642AE-D0EC-4449-AE38-14E246368E20}" type="datetime1">
              <a:rPr lang="en-IN" smtClean="0"/>
              <a:t>01-01-2026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5A4F6-7874-FBE8-6C2C-5591716B9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333EF-A034-480F-1C62-541EE7E8E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156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78AE-69D8-F79A-42D8-641202132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8654F-B236-3764-3182-8831B40C2D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D342B-F38D-70FA-7F14-CDC36891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3C570-F712-4218-A531-609CE2C11BB0}" type="datetime1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5DDD7-01D2-A71F-D534-45C2E002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CDC25-5F99-506A-1CBD-527FEBD69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111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D6B462-F185-0D3A-BD3B-05323FEE2D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194D1-6B4D-234F-3A0A-FD32CBB5B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62364E-92AC-4D63-7911-118D92368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D4DB7-C672-420A-B7C7-2621C1792E09}" type="datetime1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57281-02D3-CCAD-E096-808CFA66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4CCAB-AF6C-6EF7-6E92-0659A81B4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91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3A9B3E-5F52-756D-4BF6-9923E1CD2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39429D-08A8-454A-1795-4E19DE8A0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FC5EE-F3E7-1750-02B0-E14BF4CD67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1767E-394B-4FD5-BCA4-7F54873F3E18}" type="datetime1">
              <a:rPr lang="en-IN" smtClean="0"/>
              <a:t>01-01-2026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982A4-5C51-A9D1-B767-E9567874E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E1BF9-4C85-D35D-255E-AE2A4AE22C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EBEBA-C0BC-4124-BEC5-1D46603EDC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20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612E2-062D-28C4-A697-CD93473006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Doctor's Clinical Assistant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(RAG Chatbot)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141A6-A70F-71AF-9090-C0BAAD4638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56149"/>
          </a:xfrm>
        </p:spPr>
        <p:txBody>
          <a:bodyPr>
            <a:normAutofit/>
          </a:bodyPr>
          <a:lstStyle/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Submitted By: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Bharath V 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DBF5F-7DD6-F854-56B5-2B593F8B4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328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B9028-B153-471D-13F2-796B07311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A2ED9-ECB9-CCFE-AF95-4CD131EB1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must act as a "second brain" for physicians by providing a conversational interface over private patient databases. The architecture relies 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model first "retrieves" specific sections from a patient’s historical records (like past visits, SQL-based appointment logs, and medication lists) and then "generates" a summary. Unlike a general AI, this chatbot is "grounded" in actual medical evidence, significantly reducing the risk of clinical hallucinations. For a doctor, this means they can ask, "Show me a trend of this patient's HbA1c over the last 3 years," and the system will pull the relevant lab results to create a statistical table or summary instantly.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86161-B03B-5828-BE8B-BD48EC60B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0136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90819-4F10-30CB-191F-22550604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B6AE6-DDBC-E957-C3CF-233B9B056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eliminate clinical hallucinations by ensuring the assistant retrieves 100% of its data directly from verified SQL patient records.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enable physicians to query complex historical clinical data (labs, meds, appointments) using intuitive natural language.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automatically aggregate and visualize long-term patient trends (e.g., HbA1c or Blood Pressure history) from 2021–2025 instantly.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physician cognitive load through premium UI aesthetics and "at-a-glance" synthesis of active vs. discontinued treatments.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responses grounded strictly in medical evidence—citing exact values, measurement dates, and standard reference ranges for every answer.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EF080-23DB-E4AF-89D0-9051E8AF5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5687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70AF0-521F-6138-E62C-9FB791D3D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331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600957-DBA5-81D0-A6DB-DD93C31225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247" y="1499190"/>
            <a:ext cx="9699506" cy="4645875"/>
          </a:xfr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3AB99-7DE9-4888-F133-3247DEA0E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2291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51725-45F7-540A-D93A-5305FF240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EC19-D0A0-26D0-113C-D221344A7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The core innovation of the Doctor’s Clinical Assistant is the use of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 Retrieval-Augmented Generation (RAG)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Unlike standard AI that predicts the next word, this system follows a strict three-step "Evidence-First" workflow: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Verifiable Retrieval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The system identifies the doctor's intent and executes precise SQL queries to pull raw data directly from the patient record.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Augmentation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"augments" that data by applying temporal filters (e.g., "last 3 years") and comparing values against standard clinical reference ranges in real-time.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Hallucination-Free Generation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It constrains the output to deterministic formats (tables or structured lists) that are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grounded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in the retrieved evidence—ensuring that the assistant never "guesses" a medical value.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A32D5-DAF0-9674-75BD-E0C64E10E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941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AAEBE-02BC-8078-A6E1-FDE92AAA99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9842" y="813732"/>
            <a:ext cx="10623958" cy="5363231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 for Physicians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Medication Guard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Real-time tracking of Active vs. Discontinued treatments.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Trending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Auto-generation of trend tables for any lab component.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Appointments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NL-search for today, tomorrow, and historical visits.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Interpretation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Automatic classification of lab values (Normal vs. High/Low) based on standard ref ranges.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Efficiency-First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"Enter-to-Analyse" workflow for rapid querying.</a:t>
            </a:r>
          </a:p>
          <a:p>
            <a:pPr marL="0" indent="0">
              <a:buNone/>
            </a:pP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Stack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Streamlit (Python-based Web Framework).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Styling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Vanilla CSS with Glass morphism &amp; Google Fonts (Inter/Outfit).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Python (Pandas for data processing, Re for NLP intent routing).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SQLite (SQL for precise clinical record retrieval).</a:t>
            </a:r>
          </a:p>
          <a:p>
            <a:r>
              <a:rPr lang="en-IN" sz="4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r>
              <a:rPr lang="en-IN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100% Grounded RAG (Retrieval-Augmented Generation).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FE962-7062-706A-BF79-03A183F7B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948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D2BBA-1A65-D26D-AC5C-9CC63A804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BB6782-35F6-72EC-94FA-53F7561B6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8592" y="1421860"/>
            <a:ext cx="10042321" cy="473565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E1CC93-CA25-7781-11C8-2DA97A9DBA01}"/>
              </a:ext>
            </a:extLst>
          </p:cNvPr>
          <p:cNvSpPr txBox="1"/>
          <p:nvPr/>
        </p:nvSpPr>
        <p:spPr>
          <a:xfrm>
            <a:off x="4871947" y="6323598"/>
            <a:ext cx="24481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Clinical AI Assistant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D23284-6B07-9B4C-FEBD-60834EB75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9644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8610B8-7EDD-B5BB-BDC6-DBA56594FC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997" y="835724"/>
            <a:ext cx="10198335" cy="4768122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4B96B8-F511-5A9B-C4DF-AA604E18FA2D}"/>
              </a:ext>
            </a:extLst>
          </p:cNvPr>
          <p:cNvSpPr txBox="1"/>
          <p:nvPr/>
        </p:nvSpPr>
        <p:spPr>
          <a:xfrm>
            <a:off x="4413488" y="5922628"/>
            <a:ext cx="3365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Lab results history &amp; trends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B0324-2FA3-D428-AD2B-4A4D5B0C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996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8ADAA-7036-1EF6-36FC-DE9B8E563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65725-6E1A-9CEC-465D-75527FC73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100% Grounded Accuracy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Successfully eliminated clinical hallucinations by using a deterministic RAG architecture that anchors every response in the patient's verified SQL records.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Operational Efficiency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Reduced physician "data-mining" time by aggregating multi-year longitudinal data (2021–2025) into instant, actionable summaries and trend tables.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Actionable Insights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Enhanced diagnosis support by automatically flagging lab results against standard reference ranges and tracking medication status (Active vs. Discontinued).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Clinical UX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Deployed a premium,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glassmorphic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that minimizes cognitive load and provides a focused interpretation environment for healthcare professionals.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0CF2E7-C265-CEF1-1C7D-1E7863B45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EBEBA-C0BC-4124-BEC5-1D46603EDC9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687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658</Words>
  <Application>Microsoft Office PowerPoint</Application>
  <PresentationFormat>Widescreen</PresentationFormat>
  <Paragraphs>50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Office Theme</vt:lpstr>
      <vt:lpstr>Doctor's Clinical Assistant  (RAG Chatbot)</vt:lpstr>
      <vt:lpstr>Task Statement</vt:lpstr>
      <vt:lpstr>Objectives</vt:lpstr>
      <vt:lpstr>Architecture</vt:lpstr>
      <vt:lpstr>Solution</vt:lpstr>
      <vt:lpstr>PowerPoint Presentation</vt:lpstr>
      <vt:lpstr>Result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bharathgowda0564@outlook.com</dc:creator>
  <cp:lastModifiedBy>bharathgowda0564@outlook.com</cp:lastModifiedBy>
  <cp:revision>4</cp:revision>
  <dcterms:created xsi:type="dcterms:W3CDTF">2025-12-31T14:43:35Z</dcterms:created>
  <dcterms:modified xsi:type="dcterms:W3CDTF">2026-01-01T08:06:50Z</dcterms:modified>
</cp:coreProperties>
</file>